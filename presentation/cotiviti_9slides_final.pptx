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 autoAdjust="0"/>
    <p:restoredTop sz="94960" autoAdjust="0"/>
  </p:normalViewPr>
  <p:slideViewPr>
    <p:cSldViewPr snapToGrid="0" snapToObjects="1">
      <p:cViewPr varScale="1">
        <p:scale>
          <a:sx n="102" d="100"/>
          <a:sy n="102" d="100"/>
        </p:scale>
        <p:origin x="85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13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Natural Language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for Health Care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· Present · Future  ·  NLP · OCR · LLMs · LMMs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2999232"/>
            <a:ext cx="3291840" cy="457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Arshad Naguru  ·  MS Artificial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3814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Institute of Technology  ·  Cotiviti Intern Assessment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Concept Definition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NLP converts unstructured clinical data - physician notes, discharge summaries, radiology reports - into structured, actionable information. 80% of all medical data is unstructured. 96% of US hospitals are on EHR systems.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3090672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2523744" cy="310896"/>
          </a:xfrm>
          <a:prstGeom prst="roundRect">
            <a:avLst>
              <a:gd name="adj" fmla="val 17647"/>
            </a:avLst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1990s–2000s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" y="25420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MetaMap · cTAKES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0358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Medical ontologies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matching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52958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Brittle - breaks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spelling variation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90672" y="269748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18688" y="1627632"/>
            <a:ext cx="2743200" cy="3090672"/>
          </a:xfrm>
          <a:prstGeom prst="roundRect">
            <a:avLst>
              <a:gd name="adj" fmla="val 3333"/>
            </a:avLst>
          </a:prstGeom>
          <a:solidFill>
            <a:srgbClr val="0A4F6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328416" y="1737360"/>
            <a:ext cx="2523744" cy="310896"/>
          </a:xfrm>
          <a:prstGeom prst="roundRect">
            <a:avLst>
              <a:gd name="adj" fmla="val 17647"/>
            </a:avLst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28416" y="173736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ML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28416" y="25420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CRFs · SVMs · i2b2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30358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Learned from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generalization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352958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No context window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large datasets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69748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17336" y="1627632"/>
            <a:ext cx="2743200" cy="3090672"/>
          </a:xfrm>
          <a:prstGeom prst="roundRect">
            <a:avLst>
              <a:gd name="adj" fmla="val 3333"/>
            </a:avLst>
          </a:prstGeom>
          <a:solidFill>
            <a:srgbClr val="0A3D62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27064" y="1737360"/>
            <a:ext cx="2523744" cy="310896"/>
          </a:xfrm>
          <a:prstGeom prst="roundRect">
            <a:avLst>
              <a:gd name="adj" fmla="val 17647"/>
            </a:avLst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27064" y="173736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2019–Present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08776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Era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27064" y="25420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BERT → BioBERT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Med-PaLM 2 · LLMs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27064" y="30358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Pre-trained + fine-tuned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clinical QA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352958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LLMs + LMMs now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imaging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0" y="505535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Relevant Trends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0D4F8B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941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3075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$5.2B → $16B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2025–2030 · 25.3% CAGR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868680"/>
            <a:ext cx="6035040" cy="1261872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44368" y="960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Explosion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44368" y="13258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to unlock value from unstructured EHR data is driving unprecedented investment in clinical NLP globally.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0A6E9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26974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30815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workday on EHR docs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88920" y="2258568"/>
            <a:ext cx="6035040" cy="1261872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44368" y="235000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Burnout &amp; Ambient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44368" y="271576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 DAX Copilot and Abridge use LLMs + ambient listening to auto-generate visit notes - integrated into Epic &amp; Cerner.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48456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0A5E8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7216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" y="40873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" y="447141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Med-PaLM 2 on USMLE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88920" y="3648456"/>
            <a:ext cx="6035040" cy="1261872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44368" y="373989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Dominance &amp; Multimodal AI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44368" y="410565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were #1 model type in healthcare AI research in 2024 (479 papers). Med-Gemini extends to clinical text + imaging.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Opportunities &amp; Threats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0FF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Opportunities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Automated Clinical 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extracts ICD-10/CPT codes from notes - 30% doc time reduction, $45K/yr saved per physician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Payment Integrity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unsupported claims, upcoding, documentation inconsistencies from EOB documents - no structured data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Population Health &amp; Quality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313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care gaps, identify undiagnosed conditions, auto-generate HEDIS/Stars quality reports for payer clients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7ED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960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Threats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Hallucination &amp; Trust Paradox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generate confident but wrong clinical outputs. Better model = more dangerous errors. ICD code hallucination risk.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HIPAA &amp; Regulatory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exposure with commercial LLM APIs. FDA SaMD framework tightening for NLP-based clinical decision support.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5112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EHR Integration Complexity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8313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systems - different EHR versions, templates, governance - slow NLP from pilot to enterprise scale.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Strategic Recommendations for Cotiviti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548640" cy="548640"/>
          </a:xfrm>
          <a:prstGeom prst="ellipse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33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3760" y="97840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223760" y="978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" y="941832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NLP-Powered Clinical Documentation Intelligence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1271016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pipeline ingesting provider notes from claims packages, extracting diagnoses, procedures, medications mapped to ICD-10/CPT - enabling automated medical necessity review within payment integrity workflows.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066544"/>
            <a:ext cx="548640" cy="548640"/>
          </a:xfrm>
          <a:prstGeom prst="ellipse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066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0" y="201168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2376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78992" y="1975104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Clinical Intelligence for Provider Analytics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30428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ambient AI scribe vendors (Nuance DAX, Abridge) to ingest de-identified clinical conversation data - applying NLP to surface care gaps and generate HEDIS/Stars quality measure reports for payer clients.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35224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3099816"/>
            <a:ext cx="548640" cy="548640"/>
          </a:xfrm>
          <a:prstGeom prst="ellipse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099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304495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223760" y="3044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008376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RAG-Augmented Clinical Policy Engine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78992" y="3337560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RAG layer over Cotiviti's proprietary clinical guidelines and payer contracts - enabling reviewers to query natural language questions and get grounded, cited answers via a HIPAA-compliant private LLM.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68496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11480" y="4133088"/>
            <a:ext cx="548640" cy="548640"/>
          </a:xfrm>
          <a:prstGeom prst="ellipse">
            <a:avLst/>
          </a:prstGeom>
          <a:solidFill>
            <a:srgbClr val="0D4F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23760" y="4078224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23760" y="40782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4041648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Document Intelligence (Future Roadmap)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78992" y="4370832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text to real clinical PDFs using IBM DocLing for PDF extraction, LLaVA-Med/Med-Gemini VLMs for embedded medical image understanding, and structured table parsing - making the pipeline production-ready for full payer claim packages.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POC: Clinical NLP RAG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Pro A100 40GB  ·  HuggingFace  ·  FAISS GPU  ·  Groq 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1645920" cy="1389888"/>
          </a:xfrm>
          <a:prstGeom prst="roundRect">
            <a:avLst>
              <a:gd name="adj" fmla="val 6579"/>
            </a:avLst>
          </a:prstGeom>
          <a:solidFill>
            <a:srgbClr val="1E3A5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" y="1170432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Documents)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1316736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6032" y="1938528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Multi-visit EHR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 · Labs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65376" y="162763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65960" y="1078992"/>
            <a:ext cx="1645920" cy="1389888"/>
          </a:xfrm>
          <a:prstGeom prst="roundRect">
            <a:avLst>
              <a:gd name="adj" fmla="val 6579"/>
            </a:avLst>
          </a:prstGeom>
          <a:solidFill>
            <a:srgbClr val="1A4F7A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20824" y="1170432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1856232"/>
            <a:ext cx="1316736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20824" y="1938528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tokens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64-token overlap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30168" y="162763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30752" y="1078992"/>
            <a:ext cx="1645920" cy="1389888"/>
          </a:xfrm>
          <a:prstGeom prst="roundRect">
            <a:avLst>
              <a:gd name="adj" fmla="val 6579"/>
            </a:avLst>
          </a:prstGeom>
          <a:solidFill>
            <a:srgbClr val="0A5E8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85616" y="1170432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BGE-Large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95344" y="1856232"/>
            <a:ext cx="1316736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85616" y="1938528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1024-dim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162763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95544" y="1078992"/>
            <a:ext cx="1645920" cy="1389888"/>
          </a:xfrm>
          <a:prstGeom prst="roundRect">
            <a:avLst>
              <a:gd name="adj" fmla="val 6579"/>
            </a:avLst>
          </a:prstGeom>
          <a:solidFill>
            <a:srgbClr val="0A6E6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50408" y="1170432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GPU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0136" y="1856232"/>
            <a:ext cx="1316736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550408" y="1938528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search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59752" y="162763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0336" y="1078992"/>
            <a:ext cx="1645920" cy="1389888"/>
          </a:xfrm>
          <a:prstGeom prst="roundRect">
            <a:avLst>
              <a:gd name="adj" fmla="val 6579"/>
            </a:avLst>
          </a:prstGeom>
          <a:solidFill>
            <a:srgbClr val="0A5E3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0" y="1170432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Llama-3.1-8B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(via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24928" y="1856232"/>
            <a:ext cx="1316736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0" y="1938528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RAG-grounded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generation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7180" y="2627896"/>
            <a:ext cx="8595360" cy="747429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2743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88720" y="2743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question → BGE embed → FAISS top-k retrieval → Fine-tuned NER → LLM grounded generation → SOAP Note + ICD-10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5" y="3559022"/>
            <a:ext cx="2743200" cy="521395"/>
          </a:xfrm>
          <a:prstGeom prst="roundRect">
            <a:avLst>
              <a:gd name="adj" fmla="val 16667"/>
            </a:avLst>
          </a:prstGeom>
          <a:solidFill>
            <a:srgbClr val="0A1E3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8600" y="367229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arshadnaguru/biomedical-ner-ncbi  (fine-tuned, F1: 0.810)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61800" y="3559022"/>
            <a:ext cx="2736079" cy="521395"/>
          </a:xfrm>
          <a:prstGeom prst="roundRect">
            <a:avLst>
              <a:gd name="adj" fmla="val 16667"/>
            </a:avLst>
          </a:prstGeom>
          <a:solidFill>
            <a:srgbClr val="0A1E3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47769" y="3524889"/>
            <a:ext cx="2370245" cy="62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BAAI/bge-large-en-v1.5  ·  1024-dim embeddings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56326" y="3559639"/>
            <a:ext cx="2743200" cy="520778"/>
          </a:xfrm>
          <a:prstGeom prst="roundRect">
            <a:avLst>
              <a:gd name="adj" fmla="val 16667"/>
            </a:avLst>
          </a:prstGeom>
          <a:solidFill>
            <a:srgbClr val="0A1E3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45351" y="3740720"/>
            <a:ext cx="22708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FAISS GPU  ·  cosine similarity  ·  exact search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7180" y="4283964"/>
            <a:ext cx="2743200" cy="557784"/>
          </a:xfrm>
          <a:prstGeom prst="roundRect">
            <a:avLst>
              <a:gd name="adj" fmla="val 16667"/>
            </a:avLst>
          </a:prstGeom>
          <a:solidFill>
            <a:srgbClr val="0A1E3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95740" y="439826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Llama-3.1-8B via Groq API  ·  HIPAA-compliant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82112" y="4283964"/>
            <a:ext cx="2743200" cy="557783"/>
          </a:xfrm>
          <a:prstGeom prst="roundRect">
            <a:avLst>
              <a:gd name="adj" fmla="val 16667"/>
            </a:avLst>
          </a:prstGeom>
          <a:solidFill>
            <a:srgbClr val="0A1E3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67540" y="43662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Semantic chunking  ·  64-token overlap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7044" y="4283964"/>
            <a:ext cx="2743200" cy="539496"/>
          </a:xfrm>
          <a:prstGeom prst="roundRect">
            <a:avLst>
              <a:gd name="adj" fmla="val 16667"/>
            </a:avLst>
          </a:prstGeom>
          <a:solidFill>
            <a:srgbClr val="0A1E3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20468" y="439826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Deployed on Streamlit Cloud  ·  Live URL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Live Demo - Clinical NLP RAG 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Streamlit Cloud  ·  Anyone can open the URL and use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Tab 1 - Clinical Note Analysis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4418" y="1531620"/>
            <a:ext cx="3625373" cy="183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Paste any clinical note or pick from 4 samples (diabetes,             pneumonia, STEMI, RA)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4418" y="1820218"/>
            <a:ext cx="393042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Fine-tuned NER extracts entities - diseases, medications,     symptoms, lab values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7180" y="2075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FAISS retrieves relevant patient record context automatically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7180" y="230942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Groq API generates full SOAP note with ICD-10 codes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9685" y="254716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Download entities as CSV · Download SOAP note as TXT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1115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Tab 2 - Patient Record Q&amp;A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1499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Ask any clinical question about the 5-document patient record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7465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 pre-loaded sample questions for demo purposes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FAISS finds relevant chunks · LLM answers with source citations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240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Demonstrates RAG faithfulness - every answer traceable to source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487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0% hallucination rate in evaluation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35808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1272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Tab 3 - Evaluation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5112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 6 evaluation metrics displayed in clean interactive tables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7581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NER fine-tuning story: 0.235 → 0.810 → BioBERT 0.890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Retrieval, generation, faithfulness, exact match results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035808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31272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ℹ️ Tab 4 - About the Pipeline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35112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pipeline architecture diagram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7581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Complete tech stack table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005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Author bio and contact information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Evaluation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metrics across 2 real HuggingFace datasets — NCBI Disease Corpus + PubMedQA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D4F8B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F1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on NCBI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(BioBERT ref: 0.890)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A6E6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96312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96312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Rate@5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312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PubMedQA Retrieval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queries evaluated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A5E8E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72584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72584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72584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PubMedQA Retrieval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#1 in 49/50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6653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48856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48856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48856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Factual Queries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clinical values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5029200" cy="2304288"/>
          </a:xfrm>
          <a:prstGeom prst="roundRect">
            <a:avLst>
              <a:gd name="adj" fmla="val 3968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Quality - OpenBioLLM-8B on PubMedQA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9443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expert Q&amp;A pairs · abstractive generation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3200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9164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3200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92608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0520" y="3200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16052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950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ROUGE expected low for abstractive generation - published 8B models: 0.20–0.35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2560320"/>
            <a:ext cx="3383280" cy="2304288"/>
          </a:xfrm>
          <a:prstGeom prst="roundRect">
            <a:avLst>
              <a:gd name="adj" fmla="val 3968"/>
            </a:avLst>
          </a:prstGeom>
          <a:solidFill>
            <a:srgbClr val="F0F6FC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69280" y="265176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0" y="32918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66928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   3/5  60%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7490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6928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Faithful   2/5  40%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42062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6692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  0/5    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4842" y="4645152"/>
            <a:ext cx="32948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0.800  ·  No hallucinations observed during evaluation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060704"/>
            <a:ext cx="566928" cy="566928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607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1005840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NLP is mission-critical for Cotiviti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137160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healthcare data is unstructured. Automating extraction from clinical notes directly powers payment integrity, prior authorization, and quality reporting - Cotiviti's core business.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066544"/>
            <a:ext cx="566928" cy="566928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2011680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dramatically improves real-world performance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237744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NER F1: 0.235. After fine-tuning on NCBI Disease Corpus: 0.810 - within 0.080 of BioBERT. Model publicly available at arshadnaguru/biomedical-ner-ncbi on HuggingFace Hub.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566928" cy="566928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15568" y="3017520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the right architecture for healthcare AI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5568" y="338328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Rate@5: 1.000 · MRR: 0.987 · 0% hallucination. Every answer traces back to a source document. This is what HIPAA-compliant, auditable clinical AI looks like at scale.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4078224"/>
            <a:ext cx="566928" cy="566928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40782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5568" y="4023360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is live, deployed, and Production Roadmap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15568" y="438912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Streamlit app · GitHub repo · HuggingFace model. Next step: DocLing PDF extraction + LLaVA-Med VLM image understanding → fully production-ready for real payer claim packages.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4846320"/>
            <a:ext cx="6400800" cy="164592"/>
          </a:xfrm>
          <a:prstGeom prst="roundRect">
            <a:avLst>
              <a:gd name="adj" fmla="val 27778"/>
            </a:avLst>
          </a:prstGeom>
          <a:solidFill>
            <a:srgbClr val="0A1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371600" y="484632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Arshad Naguru  ·  an2629@rit.edu  ·  github.com/arshadnaguru  ·  linkedin.com/in/mahammadarshad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1241</Words>
  <Application>Microsoft Office PowerPoint</Application>
  <PresentationFormat>On-screen Show (16:9)</PresentationFormat>
  <Paragraphs>193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NLP — Cotiviti Intern Assessment</dc:title>
  <dc:subject>PptxGenJS Presentation</dc:subject>
  <dc:creator>Arshad Naguru</dc:creator>
  <cp:lastModifiedBy>Arshad Naguru (RIT Student)</cp:lastModifiedBy>
  <cp:revision>29</cp:revision>
  <dcterms:created xsi:type="dcterms:W3CDTF">2026-06-28T10:42:57Z</dcterms:created>
  <dcterms:modified xsi:type="dcterms:W3CDTF">2026-07-01T00:07:14Z</dcterms:modified>
</cp:coreProperties>
</file>